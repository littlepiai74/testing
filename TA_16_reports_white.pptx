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26970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AVGO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$342.79: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mixed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only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9041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$367.8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7334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−1.07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25.6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3.4%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6206654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A5A00"/>
                </a:solidFill>
                <a:latin typeface="Arial"/>
              </a:rPr>
              <a:t>Mixed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$386.5.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$308–340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$386.5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65–75%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20962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AVGO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8334519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elite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AI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growth,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chart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2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−1.9%,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−7.4%,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12m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−3.2%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1680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FQ3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+86%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AI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chips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+221%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YoY;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FQ4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AI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+236%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06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43.7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19.7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31.9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4128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48.8%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30.7%,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$39.4B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(44%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2901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$35.4B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59.4B,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24.0B);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1.48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8312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0.76%;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−1.0%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issuance)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1.15%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$524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400–630)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14750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$1.64T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~21.2M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(~$7.3B)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98706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AI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growth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margins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are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elite;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a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29%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drawdown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customer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concentration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cap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52362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Broadcom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summaries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19301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33%,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$337.5–342.5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$327–332.5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465516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0623" y="2465516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11" y="2465516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$305.5–310.5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879" y="2465516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2790628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1298499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$44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$366.5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58730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$386.5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60780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swing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829" y="4078375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336" y="4078375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$405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1131" y="4078375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166" y="4059284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4389518"/>
            <a:ext cx="655726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$340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$296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164003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$366.5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1640036"/>
            <a:ext cx="12265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1868631"/>
            <a:ext cx="16148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097225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32581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379893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$321.5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$296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779" y="6288120"/>
            <a:ext cx="600062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AVGO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4354212"/>
            <a:ext cx="228413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chip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586363"/>
            <a:ext cx="445680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Hyperscaler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China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852375"/>
            <a:ext cx="288223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Fiscal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Q4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~Dec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10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(est.)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2084525"/>
            <a:ext cx="46152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Guide: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$21.7B,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total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~$34.8B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(below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$35.0B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481010"/>
            <a:ext cx="159262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revenue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706810"/>
            <a:ext cx="46558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FY26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~$58B;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~$115B,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~$230B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3103294"/>
            <a:ext cx="201616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Gross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margin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dilution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335444"/>
            <a:ext cx="46695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~73%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expected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78%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(custom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725578"/>
            <a:ext cx="1839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Customer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financing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957728"/>
            <a:ext cx="46690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&gt;$50B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arranged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(WSJ)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4354212"/>
            <a:ext cx="123300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Analyst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567272"/>
            <a:ext cx="4494214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Truist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$550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$520,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kept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avg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" y="6288120"/>
            <a:ext cx="824091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Broadcom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Reuters/LSEG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summaries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496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Next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52890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beat,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soft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3892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within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5394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286174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AI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customer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470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Hitting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needs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two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largest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27926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customers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keep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raising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capital.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5202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Keep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modest;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OpenAI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20148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Google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financing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305727"/>
            <a:ext cx="164766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Margin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dilution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608487"/>
            <a:ext cx="35098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Memory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custom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16779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~73%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78%.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84725"/>
            <a:ext cx="314837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Treat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guidance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287920"/>
            <a:ext cx="216813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number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305727"/>
            <a:ext cx="227041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Drawdown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608487"/>
            <a:ext cx="33134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29%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high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811682"/>
            <a:ext cx="148839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trend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25.6).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084725"/>
            <a:ext cx="347031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respect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287920"/>
            <a:ext cx="8152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774" y="3602137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3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33%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340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230" y="3805332"/>
            <a:ext cx="51966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421267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$296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5774" y="4630812"/>
            <a:ext cx="33651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366.5,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386.5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6230" y="4834007"/>
            <a:ext cx="6138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742430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MU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$932.22: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entry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clears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$737.9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7334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−7.83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29.5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4.9%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5403746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2.1:1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$1255.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Clears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your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65206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$1255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71–81%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1001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30697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peak-cycle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margins,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huge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growth,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2.2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776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+85%,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+326%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0582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FQ4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$54.2B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vs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$11.3B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year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ago;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FQ1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$61.5B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7218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5.3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552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80.7%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74.6%,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$59.0B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(44%)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315580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$43.4B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vs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debt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$5.2B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2.23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8024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0.06%;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−1.6%;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return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rise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75332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2.31%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50954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96%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$1,626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1,200–3,000)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9859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$1.05T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~26.5M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(~$25B)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750911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Record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margins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cyclical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peak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2.2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beta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scale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83455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22);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Micron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19301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$781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33%,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$895–910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$848–861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465516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0623" y="2465516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11" y="2465516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$812–825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879" y="2465516"/>
            <a:ext cx="18647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2790628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$781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1677935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$122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77.67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6597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829" y="4078375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336" y="4078375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1131" y="4078375"/>
            <a:ext cx="14166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52w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166" y="4059284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2.9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5.1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4389518"/>
            <a:ext cx="682888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$903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$858.67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$781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1640036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1640036"/>
            <a:ext cx="12990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1868631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$1039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1868631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097225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097225"/>
            <a:ext cx="12990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$991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325819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15129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9897" y="3608487"/>
            <a:ext cx="18647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$781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779" y="6288120"/>
            <a:ext cx="580101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228413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chip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27715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Hyperscaler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241426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FQ1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~Dec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16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(est.)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38020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Guide: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~$61.5B,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~$38.15,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274617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Memory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pricing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(DRAM,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HBM)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93334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Spot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records;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HBM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outgrow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through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73343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Supply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committed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7842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&gt;75%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output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already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committed;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talks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3369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Capital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38419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Return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(buyback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size: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verify)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53933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SK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hynix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49582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Peer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7696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Taiwan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union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talks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399609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Labour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talks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flagged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report)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6803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Micron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summaries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2101797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2101797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2108147"/>
          </a:xfrm>
          <a:prstGeom prst="roundRect">
            <a:avLst>
              <a:gd name="adj" fmla="val 5622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496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Next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6436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beat;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eased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worries.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3892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within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5394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5492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Cycle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reversal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18219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Margins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80%+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price-driven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34226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analysis);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turn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earnings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00420"/>
            <a:ext cx="43730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fast.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34392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small;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stock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fell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6%+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776658"/>
            <a:ext cx="85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22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alone.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508922"/>
            <a:ext cx="239876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Liquidity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volatility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35030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~26M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shares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(~$25B)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realized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vol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21227"/>
            <a:ext cx="170940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high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287920"/>
            <a:ext cx="351182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5–10%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volume;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491115"/>
            <a:ext cx="143538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508922"/>
            <a:ext cx="202102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Taiwan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811682"/>
            <a:ext cx="33042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Union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talks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Taiwan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helium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021227"/>
            <a:ext cx="23954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were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flagged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287920"/>
            <a:ext cx="353899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each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774" y="3805332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3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33%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903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230" y="4014877"/>
            <a:ext cx="51966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218072"/>
            <a:ext cx="324512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421267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630812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$781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5774" y="4834007"/>
            <a:ext cx="326048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1012,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1255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6230" y="5037202"/>
            <a:ext cx="72179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1255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13414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AMD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$559.1: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Nov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$405.5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7334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−8.39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5222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22.7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Emerging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4.8%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054670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Nov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3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$497–546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$713.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$713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68–78%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2402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AMD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12951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big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AI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order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book,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rich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valuation,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2.5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265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−8.0%,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+30%,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+121%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8664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~$13.0B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</a:t>
            </a:r>
            <a:r>
              <a:rPr sz="1150" b="1">
                <a:solidFill>
                  <a:srgbClr val="17734F"/>
                </a:solidFill>
                <a:latin typeface="Arial"/>
              </a:rPr>
              <a:t>+41%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YoY</a:t>
            </a:r>
            <a:r>
              <a:rPr sz="1150" b="0">
                <a:solidFill>
                  <a:srgbClr val="14213D"/>
                </a:solidFill>
                <a:latin typeface="Arial"/>
              </a:rPr>
              <a:t>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server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+80%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8818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143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50.3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89.8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747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55.7%,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15.8%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$8.4B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191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$8.8B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13.1B,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4.3B);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2.45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01137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dividend;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−1.1%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issuance)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2.42%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7749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$670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540–1,250)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6424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$912B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~19.0M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(~$11B)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92910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MI450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OpenAI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demand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are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real;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a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50×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forward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P/E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beta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2.5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leave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little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room.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60688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AMD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guidance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Yahoo/Wedbush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38082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Nov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$477.5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$542–551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$493–501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61445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$477.5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46214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$68.5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$659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9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$713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2.4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$767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3.2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5.6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8846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$546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$521.5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$477.5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$659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13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$497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16144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$477.5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91502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AMD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228413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chip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27715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Hyperscaler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296731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Nov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3,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after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7842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~$13.0B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±$0.3B,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~56%;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~$1.94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93966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MI450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/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Helios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2980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Helios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first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22533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Customer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commitments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2832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OpenAI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Anthropic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28139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2027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outlook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7195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Data-center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double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(mgmt)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89133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Server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CPU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7869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Server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(mgmt);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Wedbush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96578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430341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$8.5B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ramp;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watch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60504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Wedbush;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Hudson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695407"/>
          </a:xfrm>
          <a:prstGeom prst="roundRect">
            <a:avLst>
              <a:gd name="adj" fmla="val 6991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3451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after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24189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~$13.0B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17800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(+41%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YoY).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2776658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584920"/>
            <a:ext cx="204971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AI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trade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1887680"/>
            <a:ext cx="28878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flags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credit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stress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097225"/>
            <a:ext cx="31397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Anthropic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IPO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rattling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363918"/>
            <a:ext cx="368174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pause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AI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group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breaks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567113"/>
            <a:ext cx="59905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down.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508922"/>
            <a:ext cx="1116015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31232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Helios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timing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warrant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21227"/>
            <a:ext cx="34754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structure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(160M-share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warrant)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224422"/>
            <a:ext cx="58332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items.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491115"/>
            <a:ext cx="35954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Re-read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508922"/>
            <a:ext cx="204179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Valuation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811682"/>
            <a:ext cx="34965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50×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forward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P/E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2.45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021227"/>
            <a:ext cx="15572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swings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either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287920"/>
            <a:ext cx="344895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small;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stop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structural,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702" y="4491115"/>
            <a:ext cx="52614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tight.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3805332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546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014877"/>
            <a:ext cx="30886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218072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$477.5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421267"/>
            <a:ext cx="32503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659,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713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6230" y="4630812"/>
            <a:ext cx="4083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767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16506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TSLA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$406.54: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mixed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only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$385.9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65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+2.53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5079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13.5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No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3.4%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6402287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A5A00"/>
                </a:solidFill>
                <a:latin typeface="Arial"/>
              </a:rPr>
              <a:t>Mixed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$453.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$366.5–393.5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2610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$453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610" y="5737716"/>
            <a:ext cx="336966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C0392B"/>
                </a:solidFill>
                <a:latin typeface="Arial"/>
              </a:rPr>
              <a:t>40–50%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·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below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your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60%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5621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TSLA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892273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net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cash,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priced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robotaxi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743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+36%,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+8.1%,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12m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−6.3%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3249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$28.1B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YoY;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GAAP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income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−56%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1947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446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190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P/S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6883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19.3%,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3.0%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$3.3B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(3.2%)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3349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$29.0B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45.5B,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16.5B);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1.92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9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dividend;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−0.5%;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capex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cut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~$20B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2.51%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50071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36%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$439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(230–550)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9859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$1.61T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~36.8M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(~$15B)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906443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Net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auto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margin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recovery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190×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forward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P/E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AI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payoff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unproven.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33642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Tesla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CNBC/Investing.com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54328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$352.5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33%,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$393.5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$390.5–397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$381.5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$378.5–384.5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7227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465516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0623" y="246551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$366.5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11" y="2465516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$363.5–369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879" y="2465516"/>
            <a:ext cx="161481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2790628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$352.5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1298499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$41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$434.5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409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$453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32565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2×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829" y="4078375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336" y="4078375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$474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1131" y="4078375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166" y="4059284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4389518"/>
            <a:ext cx="704828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$393.5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$380.5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$352.5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164003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$434.5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1640036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186863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$424.5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1868631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$417.5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097225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32581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$409.5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32581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29227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$393.5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$387.5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151299"/>
            <a:ext cx="19730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$381.5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379893"/>
            <a:ext cx="1722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$366.5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9897" y="360848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$352.5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779" y="6288120"/>
            <a:ext cx="594721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TSLA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18486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78551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500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~+26%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(FactSet)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80934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4422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$0.48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~$0.43–0.46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$28.05B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201408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Auto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margin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501661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Auto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ex-credits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18.1%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16.3%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energy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89314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spend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2509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&gt;$25B);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R&amp;D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+69%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217418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Robotaxi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Cybercab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30844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Austin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Cybercab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rides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since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year-end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84092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05453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deliveries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486,532;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biggest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backlog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299912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809291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Tesla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242729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Valuation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vs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662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Market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$1.6T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operating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2643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analyst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run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$230–$550.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49468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stop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95957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structural.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229826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Regulatory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approvals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4046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FSD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robotaxi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approvals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160348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vary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region.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6776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regulatory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small.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925" y="3305727"/>
            <a:ext cx="166488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Spending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608487"/>
            <a:ext cx="34668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JPMorgan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expects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spending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keep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811682"/>
            <a:ext cx="365010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into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2027–28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(robotaxi,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Optimus,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compute).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084725"/>
            <a:ext cx="35006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capex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free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287920"/>
            <a:ext cx="95038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305727"/>
            <a:ext cx="156352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No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clear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608487"/>
            <a:ext cx="35796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13.5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trend;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11682"/>
            <a:ext cx="247816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range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after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earnings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slide.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84725"/>
            <a:ext cx="2974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dip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support;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avoid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287920"/>
            <a:ext cx="78132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chasing.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3602137"/>
            <a:ext cx="32396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3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33%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393.5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3805332"/>
            <a:ext cx="11994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381.5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366.5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421267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$352.5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630812"/>
            <a:ext cx="340713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434.5,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453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6230" y="4834007"/>
            <a:ext cx="4083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474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516535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XOM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$180.98: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30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$153.7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+0.78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30.0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2.1%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515044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Oct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30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$169–176.5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0.8:1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$196.5.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$196.5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72–82%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229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XOM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10009125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cash-rich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energy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major,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priced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near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6697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+57%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00534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est.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~$4.03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$1.88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year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ago;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refining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+$4.5B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06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23.3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747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11.2%,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10.0%,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$30.6B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(8.5%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3293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debt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$31.8B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42.4B,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10.6B);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0.21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51649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2.3%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3.9%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planned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0.96%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52290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$180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11315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$743B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~11.2M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(~$2.0B)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57036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>
                <a:solidFill>
                  <a:srgbClr val="14213D"/>
                </a:solidFill>
                <a:latin typeface="Arial"/>
              </a:rPr>
              <a:t>Cash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returns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refining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windfall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support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it;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no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analyst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upside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oil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risk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cap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55631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guidance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18679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30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$176.5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$175–178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$168–170.5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73368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$14.5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$188.5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9302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$196.5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9925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$176.5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$172.75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$162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$196.5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$188.5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18773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$176.5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$169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$166.5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$164.5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91394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XOM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258984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Oil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Strait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of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Hormuz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41526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$114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Sept;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~$105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STEO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317498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30,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before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7382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~$4.03,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~$106B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(estimates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61080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Refining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windfall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7123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flagged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+$4.5B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Energy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Products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earnings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212396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Upstream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oil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1388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Liquids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−$1.3B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~$105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275810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Middle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East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supply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disruption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5028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~10%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upstream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output;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recovery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unclear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21763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Buybacks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dividend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28831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$20B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buybacks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planned;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yield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49002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Investor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292072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events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found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Nov–Jan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07257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EIA;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MarketBeat;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Alphastreet;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Benzinga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898602"/>
          </a:xfrm>
          <a:prstGeom prst="roundRect">
            <a:avLst>
              <a:gd name="adj" fmla="val 6243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458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before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3582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~$4.03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14736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$1.88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2776658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584920"/>
            <a:ext cx="184748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Oil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price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1887680"/>
            <a:ext cx="34312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hinge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Hormuz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flows;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ceasefire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097225"/>
            <a:ext cx="32242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could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drop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(−13%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300420"/>
            <a:ext cx="5732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April).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567113"/>
            <a:ext cx="336791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small;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ceasefire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580" y="2776658"/>
            <a:ext cx="13682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reverse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oil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fast.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508922"/>
            <a:ext cx="246912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Derivative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timing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3811682"/>
            <a:ext cx="34616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include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~$2.5B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paper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derivative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021227"/>
            <a:ext cx="36342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loss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focus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underlying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287920"/>
            <a:ext cx="367425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Judge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underlying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earnings,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925" y="4491115"/>
            <a:ext cx="155146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508922"/>
            <a:ext cx="2312195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Analyst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target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=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3811682"/>
            <a:ext cx="325574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Futu's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($180)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equals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021227"/>
            <a:ext cx="239221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47%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702" y="4287920"/>
            <a:ext cx="339265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chase;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support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dips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9702" y="4491115"/>
            <a:ext cx="15082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stop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place.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3805332"/>
            <a:ext cx="32396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176.5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014877"/>
            <a:ext cx="4083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218072"/>
            <a:ext cx="316258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5774" y="4421267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$162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5774" y="4630812"/>
            <a:ext cx="33651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188.5,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196.5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6230" y="4834007"/>
            <a:ext cx="6138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7719644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JNJ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$267.41: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pullback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$246.1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+1.58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5079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16.2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No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2.4%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6033266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1.0:1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$294.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$246.5–264.5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$294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80–90%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5263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JNJ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10166009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defensive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compounder,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fully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valued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after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+41%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675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−1.7%,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+0.7%,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14319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sales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+5.9%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pharma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+7.7%;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MedTech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+2.5%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plan)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497532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40.6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(talc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charge),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24.0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19.4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553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67.8%,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26.6%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$20.6B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(21%)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2901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$27.4B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44.7B,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17.2B);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0.21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24673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2.0%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−0.8%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issuance)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0.92%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$290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270–320)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$643B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~7.6M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(~$2.0B)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10392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Low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beta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flow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support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it;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a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41%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run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leaves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modest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upside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targets.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832543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J&amp;J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CNBC/Qz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19301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$264.5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$262.5–266.5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$246.5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$244.5–248.5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7227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625785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$22.5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9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$294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$306.5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8846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$264.5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$255.5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$242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13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$275.5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$269.5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18895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upper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$264.5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$251.5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$246.5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1722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$241.5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84363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JNJ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18486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78551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500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~+26%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(FactSet)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80934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217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$2.59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$2.53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$25.4B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(+5.9%)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54511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Guidance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0854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~$11.10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midpoint;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~$101.2B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4816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Talc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settlement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1572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Proposed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resolution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booked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special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29990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Orthopaedics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35258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Management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leaning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toward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spin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(CNBC)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70206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MedTech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softness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02521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operational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2.5%,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expectations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297125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Mid-Jan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53545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J&amp;J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8-K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Qz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summaries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06078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3702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talc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resolution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proposed,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final;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5797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charges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already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$0.09.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63602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court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settlement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2580" y="1584920"/>
            <a:ext cx="162286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Limited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upside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887680"/>
            <a:ext cx="36529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~$290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above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2097225"/>
            <a:ext cx="2546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highs.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363918"/>
            <a:ext cx="33449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925" y="3305727"/>
            <a:ext cx="15392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MedTech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drag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925" y="3608487"/>
            <a:ext cx="36432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MedTech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missed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management's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own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plan;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811682"/>
            <a:ext cx="20731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spin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execution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4084725"/>
            <a:ext cx="322337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MedTech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287920"/>
            <a:ext cx="5394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9702" y="3305727"/>
            <a:ext cx="221148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Defensive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behaviour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608487"/>
            <a:ext cx="36497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Beta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0.21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risk-on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rallies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811682"/>
            <a:ext cx="13952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holds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selloffs.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4084725"/>
            <a:ext cx="324154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Use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ballast,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5774" y="3602137"/>
            <a:ext cx="32396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264.5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6230" y="3805332"/>
            <a:ext cx="5651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246.5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421267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$242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630812"/>
            <a:ext cx="32503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281,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294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834007"/>
            <a:ext cx="565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306.5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19156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LRCX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$240.05: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mixed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only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9041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$283.7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99756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Weak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7334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−7.24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29.2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6887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5.9%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High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6206654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A5A00"/>
                </a:solidFill>
                <a:latin typeface="Arial"/>
              </a:rPr>
              <a:t>Mixed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0.6:1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$264.5.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$214–214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2610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$264.5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610" y="5737716"/>
            <a:ext cx="336966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C0392B"/>
                </a:solidFill>
                <a:latin typeface="Arial"/>
              </a:rPr>
              <a:t>45–55%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·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below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your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60%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6736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LRCX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524915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strong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margins,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down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45%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from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its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675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−24%,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−4.9%,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−4.4%,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+58%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1153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Sep-qtr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$8.22B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$8.14B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est.;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~$2.33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06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35.7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23.3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29.1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512648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TTM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(&gt;40%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Sep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qtr),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$6.5B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0112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$3.7B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7.4B,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3.7B);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1.85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8311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0.55%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2.07%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$379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290–500)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$300B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~9.7M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(~$2.3B)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31969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Margins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are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strong;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a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45%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drawdown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RSI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30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show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broken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trend.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38623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Investing.com/StockStory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348859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1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$199.5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410003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100%,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$212–215.5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47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2333439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706810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2336" y="2706810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131" y="2706810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166" y="2687719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$199.5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625785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$14.5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$264.5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132565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2×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pivot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3.5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$283.5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6507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4.8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6.8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6.8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779" y="3932329"/>
            <a:ext cx="67209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$214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$214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$199.5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3459" y="164003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$264.5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9897" y="1640036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86863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$256.5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868631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$250.5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2097225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232581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$241.5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232581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922704"/>
            <a:ext cx="18647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$204.5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$198.5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$199.5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779" y="6288120"/>
            <a:ext cx="595836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LRCX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4354212"/>
            <a:ext cx="228413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chip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586363"/>
            <a:ext cx="466342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Hyperscaler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chip-tool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852375"/>
            <a:ext cx="261937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Sep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quarter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2084525"/>
            <a:ext cx="42980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$8.22B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$8.14B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$2.19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481010"/>
            <a:ext cx="172791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Dec-quarter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706810"/>
            <a:ext cx="40719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~$2.33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±$0.15;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slightly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3103294"/>
            <a:ext cx="138396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Stock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335444"/>
            <a:ext cx="45456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~7%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~$242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whisper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725578"/>
            <a:ext cx="165409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Operating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957728"/>
            <a:ext cx="32541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Above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first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time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(company)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4354212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586363"/>
            <a:ext cx="299912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79" y="6288120"/>
            <a:ext cx="778271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Investing.com/StockStory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898602"/>
          </a:xfrm>
          <a:prstGeom prst="roundRect">
            <a:avLst>
              <a:gd name="adj" fmla="val 6243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4280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Broken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47639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45%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high;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20154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oversold,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bottomed.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5638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keep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4994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stop.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67854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Export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1242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chip-tool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rules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China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33116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Commerce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ordered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halts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Hua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00420"/>
            <a:ext cx="5148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April.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33199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Commerce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776658"/>
            <a:ext cx="12173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each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508922"/>
            <a:ext cx="187862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Guide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only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in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339240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matched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estimates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21227"/>
            <a:ext cx="19289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still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~7%.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287920"/>
            <a:ext cx="335006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stabilise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above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491115"/>
            <a:ext cx="89789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first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508922"/>
            <a:ext cx="108585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High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811682"/>
            <a:ext cx="309659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Beta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1.85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cover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short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021227"/>
            <a:ext cx="34163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interest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amplify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moves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both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directions.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287920"/>
            <a:ext cx="351182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5–10%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volume;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702" y="4491115"/>
            <a:ext cx="143538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3805332"/>
            <a:ext cx="30794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1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100%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421267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$199.5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5774" y="4630812"/>
            <a:ext cx="33651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264.5,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264.5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6230" y="4834007"/>
            <a:ext cx="6138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799243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COST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$992.03: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pullback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$970.1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+3.08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40.7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1.6%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5777222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$1129.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$932–983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65206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$1129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80–90%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8373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794021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elite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retailer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premium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multiple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7227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+7.5%,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+1.8%,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+6.4%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74368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FQ4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sales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+11.2%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Sept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comps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+11.4%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(7.6%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ex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gas/FX)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75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47.8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43.5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51072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37%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$9.4B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(3.1%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3349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$11.1B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21.3B,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10.2B);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0.87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33111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0.59%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0.09%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1.66%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9386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$1,093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781–1,315)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$440B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~2.0M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(~$2.0B)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81550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Comps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are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strong;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44×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forward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fading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fee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boost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cap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upside.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43640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15);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Costco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September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19301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$919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$975–991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$924–939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61481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$919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462143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$64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38.5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5038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upper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5551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$1129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2.3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7209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$983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$957.5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$919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$1129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13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1143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upper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1722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16148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$919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97473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18486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78551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500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~+26%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(FactSet)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9497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FQ4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3816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$93.9B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(+11.2%);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$6.75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incl.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$0.15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238790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September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monthly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1199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$30.0B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(+13%);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+11.4%,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+7.6%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gas/FX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63790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Membership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fees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5096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$1.85B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(+7.3%);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84.1M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paid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226710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Fee-hike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tailwind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fading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3154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Sep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rise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nearly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fully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(Motley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Fool)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349725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after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203295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Monthly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sales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31963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Early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each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month;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next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covers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October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674565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Costco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Motley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Fool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1898602"/>
          </a:xfrm>
          <a:prstGeom prst="roundRect">
            <a:avLst>
              <a:gd name="adj" fmla="val 6243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496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Next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19037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11.2%.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3892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within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5394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205439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Premium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2314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44×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forward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P/E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leaves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little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14452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slowdown.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5241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chasing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79527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highs.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305727"/>
            <a:ext cx="143277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Thin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margins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608487"/>
            <a:ext cx="34704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3.8%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operating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gasoline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17522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swings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84725"/>
            <a:ext cx="26718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Read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comps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ex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gas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305727"/>
            <a:ext cx="212318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Fee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tailwind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608487"/>
            <a:ext cx="35839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fee-hike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boost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nearly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done;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11682"/>
            <a:ext cx="27383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slowed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+7.3%.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84725"/>
            <a:ext cx="33972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renewal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rate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fee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income.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5774" y="3602137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983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3805332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4014877"/>
            <a:ext cx="8732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218072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$919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421267"/>
            <a:ext cx="326048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1032,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1129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630812"/>
            <a:ext cx="72179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1129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19570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CVX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$228.5: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30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$192.3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+1.19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31.6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2.1%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519692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0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Oct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30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$216.5–216.5</a:t>
            </a:r>
            <a:r>
              <a:rPr sz="1350" b="0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0.5:1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0">
                <a:solidFill>
                  <a:srgbClr val="14213D"/>
                </a:solidFill>
                <a:latin typeface="Arial"/>
              </a:rPr>
              <a:t>$238.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$238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65–75%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734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CVX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77664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oil-levered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income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stock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with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Guyana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6697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0102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est.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~$4.8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(+155%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YoY);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Q2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output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+292k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b/d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(Hess)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8227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747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$27.0B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(12.9%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822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$28.6B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37.1B,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8.5B);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0.52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19782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3.1%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issuance)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1.27%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$232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208–252)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$447B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~7.1M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(~$1.6B)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940235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An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earnings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surge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3.1%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dividend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oil-price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and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Hormuz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risk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Oct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30.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28949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22);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Zacks/MarketBeat/Alphastreet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18679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30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410003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100%,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$216.5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$214.5–218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2333439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706810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2336" y="2706810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131" y="2706810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166" y="2687719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40999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$7.5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2.9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$247.5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4.1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$256.5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5.3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5.3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779" y="3932329"/>
            <a:ext cx="68846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$216.5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$216.5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$209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3459" y="164003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$256.5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86863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$247.5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868631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2097225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2325819"/>
            <a:ext cx="18773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9227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$216.5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922704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$211.5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3151299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779" y="6288120"/>
            <a:ext cx="58644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CVX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258984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Oil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Strait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of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Hormuz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41526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$114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Sept;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~$105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STEO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317498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30,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before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501355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~$4.7–4.9,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~$59–62B;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11am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4902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streak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39610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quarters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204274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Downstream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strength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9052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Zacks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downstream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earnings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$5.1B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$1.1B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64381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Hess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Guyana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2456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Stabroek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stake;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Uaru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first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oil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expected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89784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Guyana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port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79344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Chevron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dropped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proposed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deepwater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208110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Buyback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dividend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436814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expect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higher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returns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confirmed)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674744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EIA;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MarketBeat;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771605"/>
          </a:xfrm>
          <a:prstGeom prst="roundRect">
            <a:avLst>
              <a:gd name="adj" fmla="val 6690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458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before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40949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~$4.8,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~155%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4187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YoY.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2776658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584920"/>
            <a:ext cx="184748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Oil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price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1887680"/>
            <a:ext cx="34312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hinge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Hormuz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flows;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ceasefire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097225"/>
            <a:ext cx="32242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could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drop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(−13%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300420"/>
            <a:ext cx="5732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April).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567113"/>
            <a:ext cx="336791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small;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ceasefire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580" y="2776658"/>
            <a:ext cx="13682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reverse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oil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fast.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508922"/>
            <a:ext cx="2226965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Beat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already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priced?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3811682"/>
            <a:ext cx="34217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after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strong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quarter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021227"/>
            <a:ext cx="359345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commentary);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estimates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13.6%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224422"/>
            <a:ext cx="9564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925" y="4491115"/>
            <a:ext cx="366549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Judge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production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925" y="4700660"/>
            <a:ext cx="49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3508922"/>
            <a:ext cx="237187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Guyana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concentration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3811682"/>
            <a:ext cx="3307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leans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Stabroek;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702" y="4021227"/>
            <a:ext cx="283296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gives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Guyana-only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profit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figure.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9702" y="4287920"/>
            <a:ext cx="313124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Treat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local-press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profit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claims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9702" y="4491115"/>
            <a:ext cx="95861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estimates.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3805332"/>
            <a:ext cx="32362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1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100%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216.5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014877"/>
            <a:ext cx="31625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5774" y="4218072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$209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5774" y="4421267"/>
            <a:ext cx="32503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238,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238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6230" y="4630812"/>
            <a:ext cx="565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256.5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516758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MRK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$141.99: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29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$126.2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45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7334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−0.37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5079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15.9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No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3.1%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324095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Oct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29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$131–139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1.4:1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$170.5.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$170.5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68–78%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171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MRK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852958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cash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machine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facing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Keytruda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cliff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675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−4.5%,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+8.9%,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+29%,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3343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Winrevair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+75%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Keytruda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($7.9B),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48297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111.6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(charges),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17.1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8553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75.9%,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35.3%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$16.1B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(24%)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890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$46.8B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53.9B,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7.1B);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0.22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63080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2.4%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1.15%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$167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145–180)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$351B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~9.7M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(~$1.4B)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905698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Margins,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yield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launches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Keytruda's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2028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patent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loss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1.3×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debt/equity</a:t>
            </a:r>
            <a:r>
              <a:rPr sz="1450" b="0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867303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Zacks/24/7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18679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29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$137.5–140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47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$130–132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298499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$18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09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$170.5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5572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$139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$135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8773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$142.5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18647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19730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9081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MRK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18486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78551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500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~+26%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(FactSet)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317498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29,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before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9207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~$17.3B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$66.3–67.3B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83748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Keytruda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trajectory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37240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$7.9B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(−1%);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subcutaneous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QLEX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$463M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95949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Winrevair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8569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$588M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(+75%);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FDA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added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HYPERION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99651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Year-ago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39139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~$250M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wholesaler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timing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benefit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won't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repeat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42012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Estimate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67272"/>
            <a:ext cx="474237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$2.78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$2.66;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$9.67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$9.27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(Zacks)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215872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Keytruda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patent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expiry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374451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exclusivity;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biosimilars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2028–29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19144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24/7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Hudson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1695407"/>
          </a:xfrm>
          <a:prstGeom prst="roundRect">
            <a:avLst>
              <a:gd name="adj" fmla="val 6991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458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29,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before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5600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Keytruda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swing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factor.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22950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Patent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cliff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6720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Keytruda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biosimilars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around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2028–29;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19712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launches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must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offset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6234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support;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keep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modest.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925" y="3305727"/>
            <a:ext cx="150554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Estimate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608487"/>
            <a:ext cx="338126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estimates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drifted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811682"/>
            <a:ext cx="22886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lower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over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(Zacks).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084725"/>
            <a:ext cx="318886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Read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guidance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287920"/>
            <a:ext cx="7093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adding.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305727"/>
            <a:ext cx="102236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608487"/>
            <a:ext cx="362510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Debt/equity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debt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$46.8B.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75181"/>
            <a:ext cx="28111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interest-cost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84725"/>
            <a:ext cx="949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headlines.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5774" y="3602137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3805332"/>
            <a:ext cx="31625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774" y="4014877"/>
            <a:ext cx="29078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$121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218072"/>
            <a:ext cx="341392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153,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170.5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6230" y="4421267"/>
            <a:ext cx="565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170.5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815710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CRWD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$268.51: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pullback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$165.1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59018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−0.051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5079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19.8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No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78193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4.7%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Medium</a:t>
            </a:r>
            <a:r>
              <a:rPr sz="1250" b="0">
                <a:solidFill>
                  <a:srgbClr val="5B6675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5837633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0.6:1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$293.5.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$237–237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$293.5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63–73%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24828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CRWD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8924852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acceleration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50×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sales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multiple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9344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+3.6%,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+50%,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+136%,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+104%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4080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ARR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+51%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YoY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(record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$333M);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ARR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$5.84B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44345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49.8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190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meaningful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5272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Gross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75.2%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GAAP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−2.5%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$1.6B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(30%)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0112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$4.2B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5.0B,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0.8B);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3736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1.2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71%,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6026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dividend;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−3.2%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(stock-comp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dilution)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2.59%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49700"/>
            <a:ext cx="470663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$270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≈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(210–425)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$275B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~8.4M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(~$2.3B)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86264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Record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net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new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ARR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50×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sales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average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target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sits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near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price.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1440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CrowdStrike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(Aug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26)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699858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1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$224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410003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100%,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$235–238.5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779" y="2333439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706810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2336" y="2706810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131" y="2706810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166" y="2687719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298499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$13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$293.5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4.3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6.3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6.3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8.2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8.2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779" y="3932329"/>
            <a:ext cx="65572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$237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$237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$224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868631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$293.5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2097225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2325819"/>
            <a:ext cx="18773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922704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$234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315129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$227.5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$221.5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608487"/>
            <a:ext cx="18647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$224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779" y="6288120"/>
            <a:ext cx="603928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CRWD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10552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Software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security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99519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Enterprise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security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budgets;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Fal.Con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launches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2705345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FY27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~Dec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(est.)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39766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Guide: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$1.52–1.53B,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$6.18–6.19B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235501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new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ARR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509555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$333M,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+51%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YoY;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NNARR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10604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Falcon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Flex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371124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Flex-account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above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$2.29B,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+101%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203445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Fal.Con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product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news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23094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SafeMind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models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(NVIDIA)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Falcon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IQ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1510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Profitability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96140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Non-GAAP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$372M;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narrowed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619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Outage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legacy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450320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Falcon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outage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found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(2024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event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73344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CrowdStrike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TIKR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1898602"/>
          </a:xfrm>
          <a:prstGeom prst="roundRect">
            <a:avLst>
              <a:gd name="adj" fmla="val 6243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66664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Next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(per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stockanalysis.com).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27423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$333M.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3892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within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5394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07297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5639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About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50×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slowdown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19331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quickly.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5766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respect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4994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stop.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305727"/>
            <a:ext cx="193105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Price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near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608487"/>
            <a:ext cx="36342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analyst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($270)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32269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price;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mid-October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raises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84725"/>
            <a:ext cx="22250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Take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305727"/>
            <a:ext cx="161573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Trend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608487"/>
            <a:ext cx="361575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19.8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60: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healthy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trend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11682"/>
            <a:ext cx="11247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strong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84725"/>
            <a:ext cx="311697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Prefer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pullbacks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over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breakouts.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5774" y="3602137"/>
            <a:ext cx="30794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1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100%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3805332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4014877"/>
            <a:ext cx="8732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218072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$224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421267"/>
            <a:ext cx="33651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293.5,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293.5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630812"/>
            <a:ext cx="6138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38937" y="5435464"/>
            <a:ext cx="2933627" cy="565135"/>
          </a:xfrm>
          <a:prstGeom prst="roundRect">
            <a:avLst>
              <a:gd name="adj" fmla="val 20973"/>
            </a:avLst>
          </a:prstGeom>
          <a:solidFill>
            <a:srgbClr val="FDF1DC"/>
          </a:solidFill>
          <a:ln w="15875">
            <a:solidFill>
              <a:srgbClr val="8A5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43418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GEV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$877.65: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28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9041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$941.1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42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59018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−12.36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C0392B"/>
                </a:solidFill>
                <a:latin typeface="Arial"/>
              </a:rPr>
              <a:t>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5222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20.8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Emerging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6887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5.1%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High</a:t>
            </a:r>
            <a:r>
              <a:rPr sz="1250" b="0">
                <a:solidFill>
                  <a:srgbClr val="8A5A00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632694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A5A00"/>
                </a:solidFill>
                <a:latin typeface="Arial"/>
              </a:rPr>
              <a:t>Mixed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Oct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28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$807–862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$1097.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3001" y="5532489"/>
            <a:ext cx="265206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$1097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3001" y="5737716"/>
            <a:ext cx="320399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8A5A00"/>
                </a:solidFill>
                <a:latin typeface="Arial"/>
              </a:rPr>
              <a:t>55–65%</a:t>
            </a:r>
            <a:r>
              <a:rPr sz="1450" b="0">
                <a:solidFill>
                  <a:srgbClr val="8A5A00"/>
                </a:solidFill>
                <a:latin typeface="Arial"/>
              </a:rPr>
              <a:t> </a:t>
            </a:r>
            <a:r>
              <a:rPr sz="1450" b="1">
                <a:solidFill>
                  <a:srgbClr val="8A5A00"/>
                </a:solidFill>
                <a:latin typeface="Arial"/>
              </a:rPr>
              <a:t>·</a:t>
            </a:r>
            <a:r>
              <a:rPr sz="1450" b="0">
                <a:solidFill>
                  <a:srgbClr val="8A5A00"/>
                </a:solidFill>
                <a:latin typeface="Arial"/>
              </a:rPr>
              <a:t> </a:t>
            </a:r>
            <a:r>
              <a:rPr sz="1450" b="1">
                <a:solidFill>
                  <a:srgbClr val="8A5A00"/>
                </a:solidFill>
                <a:latin typeface="Arial"/>
              </a:rPr>
              <a:t>near</a:t>
            </a:r>
            <a:r>
              <a:rPr sz="1450" b="0">
                <a:solidFill>
                  <a:srgbClr val="8A5A00"/>
                </a:solidFill>
                <a:latin typeface="Arial"/>
              </a:rPr>
              <a:t> </a:t>
            </a:r>
            <a:r>
              <a:rPr sz="1450" b="1">
                <a:solidFill>
                  <a:srgbClr val="8A5A00"/>
                </a:solidFill>
                <a:latin typeface="Arial"/>
              </a:rPr>
              <a:t>your</a:t>
            </a:r>
            <a:r>
              <a:rPr sz="1450" b="0">
                <a:solidFill>
                  <a:srgbClr val="8A5A00"/>
                </a:solidFill>
                <a:latin typeface="Arial"/>
              </a:rPr>
              <a:t> </a:t>
            </a:r>
            <a:r>
              <a:rPr sz="1450" b="1">
                <a:solidFill>
                  <a:srgbClr val="8A5A00"/>
                </a:solidFill>
                <a:latin typeface="Arial"/>
              </a:rPr>
              <a:t>60%</a:t>
            </a:r>
            <a:r>
              <a:rPr sz="1450" b="0">
                <a:solidFill>
                  <a:srgbClr val="8A5A00"/>
                </a:solidFill>
                <a:latin typeface="Arial"/>
              </a:rPr>
              <a:t> </a:t>
            </a:r>
            <a:r>
              <a:rPr sz="1450" b="1">
                <a:solidFill>
                  <a:srgbClr val="8A5A00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7961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GEV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125141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$176B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backlog,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42×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forward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7675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−7.6%,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−2.5%,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−19%,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53381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orders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+88%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backlog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$176B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sales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$45.5–46.5B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760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25.1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41.8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55.7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57112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$12.4B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(30%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191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Net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cash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$9.0B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12.7B,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3.7B);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0.97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7232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0.23%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2.78%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9386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88%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$1,214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470–1,450)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$234B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~2.6M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(~$2.2B)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47599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Backlog,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net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cash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FCF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are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elite;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42×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forward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P/E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needs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flawless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print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today.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78509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Vernova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Zacks/Yahoo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18679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28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$762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$855–869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$801–813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$762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57003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$100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72.5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$948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7940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2432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$1097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32565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2×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2.4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7209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$862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$834.5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$762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$977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1186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$922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$895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$874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$807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$762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87061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GEV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23949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AI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power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demand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utility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4488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Data-centre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load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grid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turbine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order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timing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3777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today,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before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5046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Zacks: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~$4.03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(+146%),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~$12.1B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(+21%)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90928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Gas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turbine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5796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Backlog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116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125+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targeted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206078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Guidance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raised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in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Q2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60822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$45.5–46.5B;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FCF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$11.5–12.5B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$6.5–7.5B)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0694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outlook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5195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17–19%;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down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double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digits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23424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Output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391678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GW/yr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2028,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212166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Services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vs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equipment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413797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Services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offset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weaker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turbine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equipment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68461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Vernova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Zacks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689057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695407"/>
          </a:xfrm>
          <a:prstGeom prst="roundRect">
            <a:avLst>
              <a:gd name="adj" fmla="val 6991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458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28,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before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5990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~$4.03,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8363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~$12.1B.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2776658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584920"/>
            <a:ext cx="163369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1887680"/>
            <a:ext cx="33021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42×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097225"/>
            <a:ext cx="32890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earnings;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miss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orders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could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300420"/>
            <a:ext cx="9143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2580" y="2567113"/>
            <a:ext cx="34608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Place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orders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until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580" y="2776658"/>
            <a:ext cx="8561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digested.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508922"/>
            <a:ext cx="1072978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3811682"/>
            <a:ext cx="366430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EV/EBITDA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55.7;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turbine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021227"/>
            <a:ext cx="30759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conversion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de-rates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925" y="4287920"/>
            <a:ext cx="357663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respect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925" y="4491115"/>
            <a:ext cx="4994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stop.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3508922"/>
            <a:ext cx="114878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Wind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drag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3811682"/>
            <a:ext cx="33735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Wind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down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double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021227"/>
            <a:ext cx="28327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digits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lower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onshore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deliveries.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702" y="4287920"/>
            <a:ext cx="358278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Judge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gas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orders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3805332"/>
            <a:ext cx="34489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862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014877"/>
            <a:ext cx="316258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218072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$762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421267"/>
            <a:ext cx="335819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948,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1097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6230" y="4630812"/>
            <a:ext cx="51625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1097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774536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RTX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$196.21: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pullback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$195.3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+1.70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30.3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2.3%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6028583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1.0:1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$214.5.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$180.5–194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7009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$214.5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80–90%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6594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RTX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10021601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record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$340B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backlog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25×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forward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2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+4.6%,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−8.8%,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7344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sales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+11%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backlog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$340B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(+36%);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raised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46646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32.0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25.3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17.5;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PEG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7668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10.3%,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$9.5B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(9.9%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822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$29.7B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38.9B,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9.2B);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0.31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42313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1.5%;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issuance)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1.09%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69%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$231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208–250)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$265B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~4.9M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(~$1.0B)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13166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Record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backlog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raised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guidance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a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one-off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tariff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refund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beat.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77772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26);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RTX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search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summaries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54328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$177.5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$192.5–195.5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$180.5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$179.5–182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61445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$177.5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625785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$16.5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9.75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09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$214.5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60780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swing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1.2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$221.5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72325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9925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$194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$187.25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$177.5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$221.5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2990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$214.5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2990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$206.5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$204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325819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$191.5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$185.5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$177.5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779" y="6288120"/>
            <a:ext cx="585694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RTX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655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Defense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budget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aerospace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59131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budget;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airline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build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Pentagon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awards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80934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0735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$1.78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$0.25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88706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2026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outlook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69670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Sales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$97.0–97.5B;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$7.65–7.75;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FCF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$9.0–9.2B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47526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Record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backlog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5949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$340B: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$176B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commercial,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$164B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defense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(+36%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YoY)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41973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Missile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awards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51637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~$37B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multiyear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Tomahawk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AMRAAM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contracts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backlog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51539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Pratt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&amp;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Whitney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81088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$363M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customer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bankruptcy;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profit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299912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51189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RTX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227932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Beat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is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partly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one-off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6418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$0.25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$0.48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one-time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17415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IEEPA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3934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guide,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51369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72626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Budget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gridlock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3407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government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continuing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25416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resolution;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starts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65065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appropriations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567113"/>
            <a:ext cx="70939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adding.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305727"/>
            <a:ext cx="1571664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Collins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608487"/>
            <a:ext cx="30005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CFO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flagged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possible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3811682"/>
            <a:ext cx="36599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pressure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Collins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after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300bp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one-off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084725"/>
            <a:ext cx="30581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Expect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softer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Q4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305727"/>
            <a:ext cx="162286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Limited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upside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608487"/>
            <a:ext cx="365585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Scan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shows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~3.8%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nearest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11682"/>
            <a:ext cx="24839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1.1:1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current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84725"/>
            <a:ext cx="303732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pullback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287920"/>
            <a:ext cx="78132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chasing.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3602137"/>
            <a:ext cx="30828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194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3805332"/>
            <a:ext cx="5651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180.5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421267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$177.5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630812"/>
            <a:ext cx="341392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204,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214.5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6230" y="4834007"/>
            <a:ext cx="565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221.5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323504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LIN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$507.11: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29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first,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$491.9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08659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68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Strong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+1.73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31.8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1.5%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8328743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Oct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29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earnings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first.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Then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ladder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$472.5–504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0.9:1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$548.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$548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72–82%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03123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891809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steady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compounder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27×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forward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multiple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1652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+7.4%,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−0.8%,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−0.6%,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88753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adj.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$17.70–17.90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(+8–9%);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backlog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$11B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467154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32.7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27.1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18.6;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PEG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9467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1340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28.2%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12.4%,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$5.0B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(14%)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822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$23.1B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28.0B,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4.9B);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0.71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6153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1.30%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618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93%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$558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530–580)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$233B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~2.0M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(~$1.0B)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47441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Margins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beats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27×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forward</a:t>
            </a:r>
            <a:r>
              <a:rPr sz="1450" b="0">
                <a:solidFill>
                  <a:srgbClr val="8F1100"/>
                </a:solidFill>
                <a:latin typeface="Arial"/>
              </a:rPr>
              <a:t> </a:t>
            </a:r>
            <a:r>
              <a:rPr sz="1450" b="1">
                <a:solidFill>
                  <a:srgbClr val="8F1100"/>
                </a:solidFill>
                <a:latin typeface="Arial"/>
              </a:rPr>
              <a:t>P/E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margin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pressure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Oct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29.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8692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Linde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Yahoo/Hudson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previews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953707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Wait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for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Oct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29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print,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ladder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$459.5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33%,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$500–508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$486.5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$482.5–490.5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61481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465516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0623" y="2465516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$472.5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11" y="2465516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$469–476.5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879" y="2465516"/>
            <a:ext cx="161445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2790628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$459.5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173368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$44.5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28.17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$523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409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$548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4166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52w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829" y="4078375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336" y="4078375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$563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1131" y="4078375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166" y="4059284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4389518"/>
            <a:ext cx="69925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$504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$487.67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$459.5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$563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1868631"/>
            <a:ext cx="113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097225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097225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32581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$510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325819"/>
            <a:ext cx="16392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upper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$504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2922704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15129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$497.5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151299"/>
            <a:ext cx="1722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3798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$490.5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379893"/>
            <a:ext cx="19730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$477.5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9897" y="3608487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$459.5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779" y="6288120"/>
            <a:ext cx="582223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2569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Industrial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activity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energy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394771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Industrial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demand;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helium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supply;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317498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results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29,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before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the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39092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9am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ET;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~$4.52,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~$9.16B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47835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Company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29604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$4.45–4.55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(+6–8%);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$17.70–17.90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13487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Beat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378119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consensus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quarters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48225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Project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1083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$11B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record;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sale-of-gas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$8.1B;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$5.5–6.0B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53945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Margin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pressure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3618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operating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60bp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29.5%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25217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Helium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costs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403133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Dislocation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dilute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41874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Linde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MarketBeat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765255"/>
          </a:xfrm>
          <a:prstGeom prst="roundRect">
            <a:avLst>
              <a:gd name="adj" fmla="val 6714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279693"/>
            <a:ext cx="341621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279693"/>
            <a:ext cx="3409864" cy="1892252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276518"/>
            <a:ext cx="3422565" cy="1898602"/>
          </a:xfrm>
          <a:prstGeom prst="roundRect">
            <a:avLst>
              <a:gd name="adj" fmla="val 6243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299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458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Reports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29,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before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open.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gap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42154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jump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$4.45–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5061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4.55.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34458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levels.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2776658"/>
            <a:ext cx="118806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584920"/>
            <a:ext cx="1729635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Earnings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Oct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1887680"/>
            <a:ext cx="354130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lands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tomorrow;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097225"/>
            <a:ext cx="349760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its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52-week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range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27×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multiple.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2580" y="2363918"/>
            <a:ext cx="313840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508922"/>
            <a:ext cx="195442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Premium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multiple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811682"/>
            <a:ext cx="356234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PEG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leaves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little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021227"/>
            <a:ext cx="11080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925" y="4287920"/>
            <a:ext cx="357663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limits;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respect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925" y="4491115"/>
            <a:ext cx="49949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stop.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508922"/>
            <a:ext cx="176327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Margin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3811682"/>
            <a:ext cx="361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margin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60bp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inflation;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recovery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021227"/>
            <a:ext cx="23051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promised,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702" y="4287920"/>
            <a:ext cx="32947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Judge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margin,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9702" y="4491115"/>
            <a:ext cx="59618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6230" y="3502572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774" y="3805332"/>
            <a:ext cx="30828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3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33%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504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230" y="4014877"/>
            <a:ext cx="11994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486.5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472.5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218072"/>
            <a:ext cx="316258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print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421267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$459.5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5774" y="4630812"/>
            <a:ext cx="32503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523,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548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6230" y="4834007"/>
            <a:ext cx="4083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E6F4EC"/>
          </a:solidFill>
          <a:ln w="15875">
            <a:solidFill>
              <a:srgbClr val="1773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7523272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CB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$354.07: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uptrend,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pullback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$333.1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1672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57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+0.93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27.7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1.7%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5842316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7734F"/>
                </a:solidFill>
                <a:latin typeface="Arial"/>
              </a:rPr>
              <a:t>Uptrend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C0392B"/>
                </a:solidFill>
                <a:latin typeface="Arial"/>
              </a:rPr>
              <a:t>1.4:1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$390.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Wait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for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$335–346.5</a:t>
            </a:r>
            <a:r>
              <a:rPr sz="1350" b="1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4296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$390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4296" y="5737716"/>
            <a:ext cx="336763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7734F"/>
                </a:solidFill>
                <a:latin typeface="Arial"/>
              </a:rPr>
              <a:t>80–90%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·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clears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your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60%</a:t>
            </a:r>
            <a:r>
              <a:rPr sz="1450" b="0">
                <a:solidFill>
                  <a:srgbClr val="17734F"/>
                </a:solidFill>
                <a:latin typeface="Arial"/>
              </a:rPr>
              <a:t> </a:t>
            </a:r>
            <a:r>
              <a:rPr sz="1450" b="1">
                <a:solidFill>
                  <a:srgbClr val="17734F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797117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1040242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top-tier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insurer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12×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earnings,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analysts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neutral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1652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+6.9%,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−2.2%,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12m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435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P&amp;C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premiums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+1.9%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N.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America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commercial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−2.7%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75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12.4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12.3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4458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$7.66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record;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P&amp;C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combined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ratio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84.1%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38117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$21.4B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$8.3B;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0.27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(insurer)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481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0.37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17%,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7232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1.15%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0.91%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4732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31%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62%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A5A00"/>
                </a:solidFill>
                <a:latin typeface="Arial"/>
              </a:rPr>
              <a:t>$374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$136B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~1.5M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(~$0.5B)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8939956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Record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income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12×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P/E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softer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commercial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pricing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Hold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consensus.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995736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Chubb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Investing.com/The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Insurer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193010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2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$328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2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50%,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$346.5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$343.5–349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$332–337.5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17227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562033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29" y="2935404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2336" y="2935404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131" y="2935404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166" y="2916313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733682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$18.5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12.75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$365.5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149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993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$390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2.4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779" y="4160923"/>
            <a:ext cx="69925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$346.5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$340.75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$328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9897" y="1640036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T3: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868631"/>
            <a:ext cx="15694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T2: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projection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$365.5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2097225"/>
            <a:ext cx="11308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2465516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2465516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694110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$346.5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694110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922704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922704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3151299"/>
            <a:ext cx="17227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200d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3379893"/>
            <a:ext cx="18647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608487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$328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608487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779" y="6288120"/>
            <a:ext cx="576217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36448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Rates,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catastrophes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P&amp;C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61253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Yields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lift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investment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hurricane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reinsurance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80934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1489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$7.66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$6.79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$2.98B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467586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Combined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18688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P&amp;C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84.1%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81.8%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ago;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losses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$705M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83135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Investment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income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39227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Record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adjusted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investment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$1.89B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60147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Pricing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softening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3401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Commercial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P&amp;C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competitive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London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62132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Reserve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releases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56812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Favorable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prior-period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development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$511M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$361M)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299912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815046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Chubb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Motley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Fool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880229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Softening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59327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Chubb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itself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says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commercial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P&amp;C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214764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getting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competitive.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63918"/>
            <a:ext cx="343747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Expect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slower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premium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growth;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90039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modestly.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2326175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Catastrophe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39456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losses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were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$705M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$285M;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2369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weather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swing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earnings.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270090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avoid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big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925" y="3305727"/>
            <a:ext cx="1725973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Hold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consensus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608487"/>
            <a:ext cx="36724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Only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analysts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Buy;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811682"/>
            <a:ext cx="24866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target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~6%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above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084725"/>
            <a:ext cx="29706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Needs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pullback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3:1.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9702" y="3305727"/>
            <a:ext cx="168912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Rate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608487"/>
            <a:ext cx="331364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Chubb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booked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$4.5B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mark-to-market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811682"/>
            <a:ext cx="177720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losses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yields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rose.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4084725"/>
            <a:ext cx="337976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10-year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yield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702" y="4287920"/>
            <a:ext cx="80164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5774" y="3602137"/>
            <a:ext cx="32396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2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50%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346.5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6230" y="3805332"/>
            <a:ext cx="40835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421267"/>
            <a:ext cx="290780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$328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5774" y="4630812"/>
            <a:ext cx="340713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365.5,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390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6230" y="4834007"/>
            <a:ext cx="4083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4" y="1101697"/>
            <a:ext cx="10572485" cy="35622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5954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4950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3047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6593" y="4771905"/>
            <a:ext cx="2025600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50141" y="4771905"/>
            <a:ext cx="2025599" cy="552436"/>
          </a:xfrm>
          <a:prstGeom prst="roundRect">
            <a:avLst>
              <a:gd name="adj" fmla="val 21455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9241" y="5435464"/>
            <a:ext cx="3073324" cy="565135"/>
          </a:xfrm>
          <a:prstGeom prst="roundRect">
            <a:avLst>
              <a:gd name="adj" fmla="val 20973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779" y="682226"/>
            <a:ext cx="9163944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SPGI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$448.86: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mixed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trend,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only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878456"/>
            <a:ext cx="117927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200-day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26" y="5078094"/>
            <a:ext cx="1523987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$417.9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73" y="4878456"/>
            <a:ext cx="75488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RSI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73" y="5078094"/>
            <a:ext cx="155336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70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8A5A00"/>
                </a:solidFill>
                <a:latin typeface="Arial"/>
              </a:rPr>
              <a:t>Overbought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3219" y="4878456"/>
            <a:ext cx="91456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MACD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219" y="5078094"/>
            <a:ext cx="140691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+4.81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Bullish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6766" y="4878456"/>
            <a:ext cx="80685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ADX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766" y="5078094"/>
            <a:ext cx="1463650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30.2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Trending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312" y="4878456"/>
            <a:ext cx="40619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0312" y="5078094"/>
            <a:ext cx="1421529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2.4%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·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Low</a:t>
            </a:r>
            <a:r>
              <a:rPr sz="1250" b="0">
                <a:solidFill>
                  <a:srgbClr val="17734F"/>
                </a:solidFill>
                <a:latin typeface="Arial"/>
              </a:rPr>
              <a:t> </a:t>
            </a:r>
            <a:r>
              <a:rPr sz="1250" b="1">
                <a:solidFill>
                  <a:srgbClr val="17734F"/>
                </a:solidFill>
                <a:latin typeface="Arial"/>
              </a:rPr>
              <a:t>vol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5639674"/>
            <a:ext cx="5646887" cy="1763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A5A00"/>
                </a:solidFill>
                <a:latin typeface="Arial"/>
              </a:rPr>
              <a:t>Mixed</a:t>
            </a:r>
            <a:r>
              <a:rPr sz="1350" b="0">
                <a:solidFill>
                  <a:srgbClr val="8A5A00"/>
                </a:solidFill>
                <a:latin typeface="Arial"/>
              </a:rPr>
              <a:t> </a:t>
            </a:r>
            <a:r>
              <a:rPr sz="1350" b="1">
                <a:solidFill>
                  <a:srgbClr val="8A5A00"/>
                </a:solidFill>
                <a:latin typeface="Arial"/>
              </a:rPr>
              <a:t>trend</a:t>
            </a:r>
            <a:r>
              <a:rPr sz="1350" b="1">
                <a:solidFill>
                  <a:srgbClr val="14213D"/>
                </a:solidFill>
                <a:latin typeface="Arial"/>
              </a:rPr>
              <a:t>;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buying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now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is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7734F"/>
                </a:solidFill>
                <a:latin typeface="Arial"/>
              </a:rPr>
              <a:t>2.1:1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to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$544.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Clears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your</a:t>
            </a:r>
            <a:r>
              <a:rPr sz="1350" b="0">
                <a:solidFill>
                  <a:srgbClr val="14213D"/>
                </a:solidFill>
                <a:latin typeface="Arial"/>
              </a:rPr>
              <a:t> </a:t>
            </a:r>
            <a:r>
              <a:rPr sz="1350" b="1">
                <a:solidFill>
                  <a:srgbClr val="14213D"/>
                </a:solidFill>
                <a:latin typeface="Arial"/>
              </a:rPr>
              <a:t>bar.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2610" y="5532489"/>
            <a:ext cx="2544163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$544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(3–6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610" y="5737716"/>
            <a:ext cx="336966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C0392B"/>
                </a:solidFill>
                <a:latin typeface="Arial"/>
              </a:rPr>
              <a:t>49–59%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·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below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your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60%</a:t>
            </a:r>
            <a:r>
              <a:rPr sz="1450" b="0">
                <a:solidFill>
                  <a:srgbClr val="C0392B"/>
                </a:solidFill>
                <a:latin typeface="Arial"/>
              </a:rPr>
              <a:t> </a:t>
            </a:r>
            <a:r>
              <a:rPr sz="1450" b="1">
                <a:solidFill>
                  <a:srgbClr val="C0392B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6288120"/>
            <a:ext cx="8152439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SPGI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TradingView,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779" y="4057548"/>
            <a:ext cx="10566135" cy="622284"/>
          </a:xfrm>
          <a:prstGeom prst="roundRect">
            <a:avLst>
              <a:gd name="adj" fmla="val 19047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779" y="860022"/>
            <a:ext cx="961031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Factors: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high-margin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franchise,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down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8%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411442"/>
            <a:ext cx="6201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6939" y="1411442"/>
            <a:ext cx="7737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9717" y="1411442"/>
            <a:ext cx="690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9" y="1640036"/>
            <a:ext cx="103918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6939" y="1640036"/>
            <a:ext cx="382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+13%,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+7.0%,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+9.5%,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12m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−3.1%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717" y="1640036"/>
            <a:ext cx="5915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9" y="1868631"/>
            <a:ext cx="71262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939" y="1868631"/>
            <a:ext cx="481745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Q3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revenue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+7%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adj.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EPS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$4.58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(+9%);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2026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guide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raised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9717" y="186863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829" y="2097225"/>
            <a:ext cx="559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6939" y="2097225"/>
            <a:ext cx="39306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26.6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trailing,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23.0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forward;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EV/EBITDA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16.7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9717" y="209722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325819"/>
            <a:ext cx="6933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6939" y="2325819"/>
            <a:ext cx="41340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Op.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margin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44.6%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ROIC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13.2%,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FCF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$5.7B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(35%)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717" y="2325819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29" y="2554414"/>
            <a:ext cx="84551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6939" y="2554414"/>
            <a:ext cx="418221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$11.0B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(debt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13.5B,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cash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2.4B);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D/E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717" y="2554414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29" y="2783008"/>
            <a:ext cx="47686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6939" y="2783008"/>
            <a:ext cx="33736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8A5A00"/>
                </a:solidFill>
                <a:latin typeface="Arial"/>
              </a:rPr>
              <a:t>1.1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(5Y);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realized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vol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60d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24%,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717" y="2783008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011602"/>
            <a:ext cx="12616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Capital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6939" y="3011602"/>
            <a:ext cx="27385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Dividend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0.87%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+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buyback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9717" y="3011602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" y="3240196"/>
            <a:ext cx="8897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Crowding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6939" y="3240196"/>
            <a:ext cx="384018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Short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interest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2.23%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of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float,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717" y="3240196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29" y="3468791"/>
            <a:ext cx="81386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Analysts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6939" y="3468791"/>
            <a:ext cx="474849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17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analysts: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100%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Buy</a:t>
            </a:r>
            <a:r>
              <a:rPr sz="1150" b="0">
                <a:solidFill>
                  <a:srgbClr val="14213D"/>
                </a:solidFill>
                <a:latin typeface="Arial"/>
              </a:rPr>
              <a:t>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avg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target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$520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(range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477–553)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717" y="3468791"/>
            <a:ext cx="80379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Tailwind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829" y="3697385"/>
            <a:ext cx="44036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6939" y="3697385"/>
            <a:ext cx="40052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$130B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market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~1.9M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shares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(~$0.9B)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717" y="3697385"/>
            <a:ext cx="71891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Neutral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373" y="4289952"/>
            <a:ext cx="910044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A7546"/>
                </a:solidFill>
                <a:latin typeface="Arial"/>
              </a:rPr>
              <a:t>45%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margin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and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a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guide</a:t>
            </a:r>
            <a:r>
              <a:rPr sz="1450" b="0">
                <a:solidFill>
                  <a:srgbClr val="1A7546"/>
                </a:solidFill>
                <a:latin typeface="Arial"/>
              </a:rPr>
              <a:t> </a:t>
            </a:r>
            <a:r>
              <a:rPr sz="1450" b="1">
                <a:solidFill>
                  <a:srgbClr val="1A7546"/>
                </a:solidFill>
                <a:latin typeface="Arial"/>
              </a:rPr>
              <a:t>raise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versus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slowing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Ratings</a:t>
            </a:r>
            <a:r>
              <a:rPr sz="1450" b="0">
                <a:solidFill>
                  <a:srgbClr val="83580C"/>
                </a:solidFill>
                <a:latin typeface="Arial"/>
              </a:rPr>
              <a:t> </a:t>
            </a:r>
            <a:r>
              <a:rPr sz="1450" b="1">
                <a:solidFill>
                  <a:srgbClr val="83580C"/>
                </a:solidFill>
                <a:latin typeface="Arial"/>
              </a:rPr>
              <a:t>growth</a:t>
            </a:r>
            <a:r>
              <a:rPr sz="1450" b="0">
                <a:solidFill>
                  <a:srgbClr val="14213D"/>
                </a:solidFill>
                <a:latin typeface="Arial"/>
              </a:rPr>
              <a:t>;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data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review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is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0">
                <a:solidFill>
                  <a:srgbClr val="14213D"/>
                </a:solidFill>
                <a:latin typeface="Arial"/>
              </a:rPr>
              <a:t>wildcard.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11031118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Yahoo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Finance;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Futu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14);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Global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27)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via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Investing.com/MarketBeat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779" y="860022"/>
            <a:ext cx="7543283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Buy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support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in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tranches;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stop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$404.5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779" y="1406362"/>
            <a:ext cx="3947183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Buy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ladder: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×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33%,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limit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VWAP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829" y="1779733"/>
            <a:ext cx="7624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Tranche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0623" y="1779733"/>
            <a:ext cx="5124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3511" y="1779733"/>
            <a:ext cx="50258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879" y="1779733"/>
            <a:ext cx="112964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Why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it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829" y="2008327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0623" y="200832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$445.5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3511" y="2008327"/>
            <a:ext cx="94531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$442–449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879" y="2008327"/>
            <a:ext cx="99333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29" y="2236922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0623" y="2236922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3511" y="2236922"/>
            <a:ext cx="125893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$426.5–433.5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8879" y="2236922"/>
            <a:ext cx="7430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9" y="2465516"/>
            <a:ext cx="19256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0623" y="2465516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3511" y="2465516"/>
            <a:ext cx="110212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$415–421.5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8879" y="2465516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2790628"/>
            <a:ext cx="1547215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4213D"/>
                </a:solidFill>
                <a:latin typeface="Arial"/>
              </a:rPr>
              <a:t>Exit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and</a:t>
            </a:r>
            <a:r>
              <a:rPr sz="1650" b="0">
                <a:solidFill>
                  <a:srgbClr val="14213D"/>
                </a:solidFill>
                <a:latin typeface="Arial"/>
              </a:rPr>
              <a:t> </a:t>
            </a:r>
            <a:r>
              <a:rPr sz="1650" b="1">
                <a:solidFill>
                  <a:srgbClr val="14213D"/>
                </a:solidFill>
                <a:latin typeface="Arial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29" y="3163998"/>
            <a:ext cx="52829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2336" y="3163998"/>
            <a:ext cx="51804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131" y="3163998"/>
            <a:ext cx="46014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9166" y="3144907"/>
            <a:ext cx="1322056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R:R,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→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29" y="3392593"/>
            <a:ext cx="4748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2336" y="3392593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$404.5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131" y="3392593"/>
            <a:ext cx="215555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9166" y="3373501"/>
            <a:ext cx="1570039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Risk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$41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0">
                <a:solidFill>
                  <a:srgbClr val="C0392B"/>
                </a:solidFill>
                <a:latin typeface="Arial"/>
              </a:rPr>
              <a:t>→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26.67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29" y="3621187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2336" y="3621187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$477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1131" y="3621187"/>
            <a:ext cx="140945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9166" y="3602096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0.8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1.7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829" y="3849781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2336" y="3849781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$522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131" y="3849781"/>
            <a:ext cx="155511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Stretch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52w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9166" y="3830690"/>
            <a:ext cx="878781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1.9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→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3.4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829" y="4078375"/>
            <a:ext cx="29758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T3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2336" y="4078375"/>
            <a:ext cx="51643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$544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1131" y="4078375"/>
            <a:ext cx="18791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456B8"/>
                </a:solidFill>
                <a:latin typeface="Arial"/>
              </a:rPr>
              <a:t>Main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·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ATR</a:t>
            </a:r>
            <a:r>
              <a:rPr sz="1150" b="0">
                <a:solidFill>
                  <a:srgbClr val="2456B8"/>
                </a:solidFill>
                <a:latin typeface="Arial"/>
              </a:rPr>
              <a:t> </a:t>
            </a:r>
            <a:r>
              <a:rPr sz="1150" b="1">
                <a:solidFill>
                  <a:srgbClr val="2456B8"/>
                </a:solidFill>
                <a:latin typeface="Arial"/>
              </a:rPr>
              <a:t>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9166" y="4059284"/>
            <a:ext cx="892448" cy="170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2.4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0">
                <a:solidFill>
                  <a:srgbClr val="17734F"/>
                </a:solidFill>
                <a:latin typeface="Arial"/>
              </a:rPr>
              <a:t>→</a:t>
            </a:r>
            <a:r>
              <a:rPr sz="1150" b="0">
                <a:solidFill>
                  <a:srgbClr val="17734F"/>
                </a:solidFill>
                <a:latin typeface="Arial"/>
              </a:rPr>
              <a:t> </a:t>
            </a:r>
            <a:r>
              <a:rPr sz="1150" b="1">
                <a:solidFill>
                  <a:srgbClr val="17734F"/>
                </a:solidFill>
                <a:latin typeface="Arial"/>
              </a:rPr>
              <a:t>4.2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779" y="4389518"/>
            <a:ext cx="7156225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Average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cost: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$445.5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fill,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$431.17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with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R:R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measured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1">
                <a:solidFill>
                  <a:srgbClr val="5B6675"/>
                </a:solidFill>
                <a:latin typeface="Arial"/>
              </a:rPr>
              <a:t>$404.5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3459" y="1411442"/>
            <a:ext cx="100699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97" y="1411442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459" y="1640036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$487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9897" y="1640036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3459" y="1868631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97" y="1868631"/>
            <a:ext cx="104871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T1: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13459" y="2097225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$459.5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9897" y="2097225"/>
            <a:ext cx="163927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BB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upper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3459" y="2325819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$452.5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9897" y="232581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3459" y="2694110"/>
            <a:ext cx="76639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9897" y="2694110"/>
            <a:ext cx="48442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B6675"/>
                </a:solidFill>
                <a:latin typeface="Arial"/>
              </a:rPr>
              <a:t>Note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13459" y="2922704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$445.5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9897" y="2922704"/>
            <a:ext cx="99333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459" y="3151299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9897" y="3151299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13459" y="3379893"/>
            <a:ext cx="51642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9897" y="3379893"/>
            <a:ext cx="186513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50d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SMA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·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swing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3459" y="3608487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$410.5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9897" y="3608487"/>
            <a:ext cx="74301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2×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pivot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13459" y="3837081"/>
            <a:ext cx="68007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$404.5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99897" y="3837081"/>
            <a:ext cx="9219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C0392B"/>
                </a:solidFill>
                <a:latin typeface="Arial"/>
              </a:rPr>
              <a:t>Stop</a:t>
            </a:r>
            <a:r>
              <a:rPr sz="1150" b="0">
                <a:solidFill>
                  <a:srgbClr val="C0392B"/>
                </a:solidFill>
                <a:latin typeface="Arial"/>
              </a:rPr>
              <a:t> </a:t>
            </a:r>
            <a:r>
              <a:rPr sz="1150" b="1">
                <a:solidFill>
                  <a:srgbClr val="C0392B"/>
                </a:solidFill>
                <a:latin typeface="Arial"/>
              </a:rPr>
              <a:t>level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779" y="6288120"/>
            <a:ext cx="5943440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SPGI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technical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Levels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from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daily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chart,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close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779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779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243" y="1720806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243" y="2349441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243" y="2971725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243" y="3594010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243" y="4222644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243" y="4844928"/>
            <a:ext cx="5130671" cy="8466"/>
          </a:xfrm>
          <a:prstGeom prst="rect">
            <a:avLst/>
          </a:prstGeom>
          <a:solidFill>
            <a:srgbClr val="C3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" y="860022"/>
            <a:ext cx="8291456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Next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3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months: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macro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company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catalysts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" y="1406362"/>
            <a:ext cx="808170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456B8"/>
                </a:solidFill>
                <a:latin typeface="Arial"/>
              </a:rPr>
              <a:t>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" y="1852375"/>
            <a:ext cx="341372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FOMC: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28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hold,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Dec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9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hike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" y="2084525"/>
            <a:ext cx="457567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~90%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hold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~80%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" y="2481010"/>
            <a:ext cx="175884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Data: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CPI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" y="2706810"/>
            <a:ext cx="432373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6,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PCE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" y="3103294"/>
            <a:ext cx="202617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midterm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79" y="3335444"/>
            <a:ext cx="44264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Nov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21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midterm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years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(one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source)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779" y="3725578"/>
            <a:ext cx="2019972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US–China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trade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truce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779" y="3957728"/>
            <a:ext cx="423975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Runs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10,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chip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export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curbs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779" y="4354212"/>
            <a:ext cx="314341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Debt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issuance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and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market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79" y="4586363"/>
            <a:ext cx="42825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Credit-market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issuance,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index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flows,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rates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243" y="1406362"/>
            <a:ext cx="2208319" cy="211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17734F"/>
                </a:solidFill>
                <a:latin typeface="Arial"/>
              </a:rPr>
              <a:t>Company-specific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1852375"/>
            <a:ext cx="180934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Q3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reported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Oct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243" y="2084525"/>
            <a:ext cx="453737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$3.678B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(+7%);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$4.58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vs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~$4.43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243" y="2481010"/>
            <a:ext cx="154511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Guidance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raised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243" y="2706810"/>
            <a:ext cx="434136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adj.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EPS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$17.70–17.95;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organic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7.5–8.5%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3103294"/>
            <a:ext cx="1506848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Ratings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slowing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243" y="3335444"/>
            <a:ext cx="466468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~2%;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slight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transaction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243" y="3725578"/>
            <a:ext cx="1550201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Strategic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8243" y="3957728"/>
            <a:ext cx="428740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Capital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IQ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related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data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businesses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under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354212"/>
            <a:ext cx="1383963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Stock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reaction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243" y="4586363"/>
            <a:ext cx="444457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Up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~1–5%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(sources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differ);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mid-day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~$453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8243" y="4976497"/>
            <a:ext cx="1335594" cy="16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Arial"/>
              </a:rPr>
              <a:t>Next</a:t>
            </a:r>
            <a:r>
              <a:rPr sz="1250" b="0">
                <a:solidFill>
                  <a:srgbClr val="14213D"/>
                </a:solidFill>
                <a:latin typeface="Arial"/>
              </a:rPr>
              <a:t> </a:t>
            </a:r>
            <a:r>
              <a:rPr sz="1250" b="1">
                <a:solidFill>
                  <a:srgbClr val="14213D"/>
                </a:solidFill>
                <a:latin typeface="Arial"/>
              </a:rPr>
              <a:t>earnings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243" y="5208647"/>
            <a:ext cx="33670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Late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Jan/Feb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2027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(est.;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announced)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" y="6288120"/>
            <a:ext cx="7290886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calendar;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fedratecalc.com;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S&amp;P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Global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Q3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release;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MarketBeat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5954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0915" y="1355691"/>
            <a:ext cx="340986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9526" y="1355691"/>
            <a:ext cx="3416214" cy="1562060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954" y="3076498"/>
            <a:ext cx="341621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0915" y="3076498"/>
            <a:ext cx="3409864" cy="2095447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 w="15875">
            <a:solidFill>
              <a:srgbClr val="9AA3A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350" y="3073323"/>
            <a:ext cx="3422565" cy="2101797"/>
          </a:xfrm>
          <a:prstGeom prst="roundRect">
            <a:avLst>
              <a:gd name="adj" fmla="val 5639"/>
            </a:avLst>
          </a:prstGeom>
          <a:solidFill>
            <a:srgbClr val="ECF0F7"/>
          </a:solidFill>
          <a:ln w="19050">
            <a:solidFill>
              <a:srgbClr val="1421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779" y="860022"/>
            <a:ext cx="8370687" cy="327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Arial"/>
              </a:rPr>
              <a:t>Execution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risks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how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to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trade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around</a:t>
            </a:r>
            <a:r>
              <a:rPr sz="2500" b="1">
                <a:solidFill>
                  <a:srgbClr val="14213D"/>
                </a:solidFill>
                <a:latin typeface="Arial"/>
              </a:rPr>
              <a:t> </a:t>
            </a:r>
            <a:r>
              <a:rPr sz="2500" b="1">
                <a:solidFill>
                  <a:srgbClr val="14213D"/>
                </a:solidFill>
                <a:latin typeface="Arial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925" y="1584920"/>
            <a:ext cx="199984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Macro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and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the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925" y="1887680"/>
            <a:ext cx="318920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Fed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funds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3.75–4.00%;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Dec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9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hike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25" y="2097225"/>
            <a:ext cx="296747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largely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priced.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CPI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3.7%,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jobs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+29k.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925" y="2363918"/>
            <a:ext cx="355478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Stage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fills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around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Nov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3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Dec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9;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925" y="2567113"/>
            <a:ext cx="104257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Arial"/>
              </a:rPr>
              <a:t>all-in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702" y="1584920"/>
            <a:ext cx="1460491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Ratings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702" y="1887680"/>
            <a:ext cx="367204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Ratings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growth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slowed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~2%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against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702" y="2097225"/>
            <a:ext cx="348232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comparisons;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Q4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transaction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revenue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702" y="2300420"/>
            <a:ext cx="70219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slightly.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702" y="2567113"/>
            <a:ext cx="2828760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Expect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softer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Q4;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ladder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2580" y="1584920"/>
            <a:ext cx="1108940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Priced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2580" y="1887680"/>
            <a:ext cx="3508038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Commentary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says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beat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guide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raise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2580" y="2097225"/>
            <a:ext cx="230031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may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already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580" y="2363918"/>
            <a:ext cx="368078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Wait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for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pullback;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no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chasing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gap.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925" y="3305727"/>
            <a:ext cx="1802532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Review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925" y="3608487"/>
            <a:ext cx="3129862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Capital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IQ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strategic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review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has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25" y="3811682"/>
            <a:ext cx="275725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timetable;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result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uncertain.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25" y="4084725"/>
            <a:ext cx="3643984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Treat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any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deal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headline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as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risk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event.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9702" y="3305727"/>
            <a:ext cx="140582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Data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conflict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702" y="3608487"/>
            <a:ext cx="3599033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differ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on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net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income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and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size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702" y="3811682"/>
            <a:ext cx="1355505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the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move.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702" y="4084725"/>
            <a:ext cx="3644079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7734F"/>
                </a:solidFill>
                <a:latin typeface="Arial"/>
              </a:rPr>
              <a:t>Do: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Check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8-K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before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acting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14213D"/>
                </a:solidFill>
                <a:latin typeface="Arial"/>
              </a:rPr>
              <a:t>figures.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6230" y="3299377"/>
            <a:ext cx="1388757" cy="1889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4213D"/>
                </a:solidFill>
                <a:latin typeface="Arial"/>
              </a:rPr>
              <a:t>Ladder</a:t>
            </a:r>
            <a:r>
              <a:rPr sz="1450" b="0">
                <a:solidFill>
                  <a:srgbClr val="14213D"/>
                </a:solidFill>
                <a:latin typeface="Arial"/>
              </a:rPr>
              <a:t> </a:t>
            </a:r>
            <a:r>
              <a:rPr sz="1450" b="1">
                <a:solidFill>
                  <a:srgbClr val="14213D"/>
                </a:solidFill>
                <a:latin typeface="Arial"/>
              </a:rPr>
              <a:t>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5774" y="3602137"/>
            <a:ext cx="3239621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A7546"/>
                </a:solidFill>
                <a:latin typeface="Arial"/>
              </a:rPr>
              <a:t>3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×</a:t>
            </a:r>
            <a:r>
              <a:rPr sz="1150" b="0">
                <a:solidFill>
                  <a:srgbClr val="1A7546"/>
                </a:solidFill>
                <a:latin typeface="Arial"/>
              </a:rPr>
              <a:t> </a:t>
            </a:r>
            <a:r>
              <a:rPr sz="1150" b="1">
                <a:solidFill>
                  <a:srgbClr val="1A7546"/>
                </a:solidFill>
                <a:latin typeface="Arial"/>
              </a:rPr>
              <a:t>33%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limit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VWAP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capped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445.5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6230" y="3805332"/>
            <a:ext cx="885796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430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/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5774" y="4014877"/>
            <a:ext cx="3245127" cy="1511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Next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tranche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after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the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last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fills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6230" y="4218072"/>
            <a:ext cx="873207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and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holds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5774" y="4421267"/>
            <a:ext cx="307145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Exit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all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on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daily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close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below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8F1100"/>
                </a:solidFill>
                <a:latin typeface="Arial"/>
              </a:rPr>
              <a:t>$404.5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5774" y="4630812"/>
            <a:ext cx="3250371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Partial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at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477,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main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exit</a:t>
            </a:r>
            <a:r>
              <a:rPr sz="1150" b="0">
                <a:solidFill>
                  <a:srgbClr val="00348F"/>
                </a:solidFill>
                <a:latin typeface="Arial"/>
              </a:rPr>
              <a:t> </a:t>
            </a:r>
            <a:r>
              <a:rPr sz="1150" b="1">
                <a:solidFill>
                  <a:srgbClr val="00348F"/>
                </a:solidFill>
                <a:latin typeface="Arial"/>
              </a:rPr>
              <a:t>544</a:t>
            </a:r>
            <a:r>
              <a:rPr sz="1150" b="0">
                <a:solidFill>
                  <a:srgbClr val="14213D"/>
                </a:solidFill>
                <a:latin typeface="Arial"/>
              </a:rPr>
              <a:t>,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runner</a:t>
            </a:r>
            <a:r>
              <a:rPr sz="1150" b="0">
                <a:solidFill>
                  <a:srgbClr val="14213D"/>
                </a:solidFill>
                <a:latin typeface="Arial"/>
              </a:rPr>
              <a:t> </a:t>
            </a:r>
            <a:r>
              <a:rPr sz="1150" b="0">
                <a:solidFill>
                  <a:srgbClr val="14213D"/>
                </a:solidFill>
                <a:latin typeface="Arial"/>
              </a:rPr>
              <a:t>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6230" y="4834007"/>
            <a:ext cx="408354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4213D"/>
                </a:solidFill>
                <a:latin typeface="Arial"/>
              </a:rPr>
              <a:t>544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" y="6288120"/>
            <a:ext cx="6869732" cy="151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B6675"/>
                </a:solidFill>
                <a:latin typeface="Arial"/>
              </a:rPr>
              <a:t>Sources: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Bloomberg;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CNBC;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company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filings;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stockanalysis.com,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Oct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27,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2026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·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/</a:t>
            </a:r>
            <a:r>
              <a:rPr sz="1150" b="0">
                <a:solidFill>
                  <a:srgbClr val="5B6675"/>
                </a:solidFill>
                <a:latin typeface="Arial"/>
              </a:rPr>
              <a:t> </a:t>
            </a:r>
            <a:r>
              <a:rPr sz="1150" b="0">
                <a:solidFill>
                  <a:srgbClr val="5B66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